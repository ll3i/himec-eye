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20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5CA3DD"/>
                </a:solidFill>
                <a:latin typeface="맑은 고딕"/>
              </a:rPr>
              <a:t>제1회 HIMEC AI 활용 아이디어 공모전  ·  ② 시공·품질관리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HIMEC EYE — 직무별 비전 AI 관제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576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B0B8C1"/>
                </a:solidFill>
                <a:latin typeface="맑은 고딕"/>
              </a:rPr>
              <a:t>현장 사진 1장에서 안전·품질 지적사항과 근거 조항·조치까지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120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5A1"/>
                </a:solidFill>
                <a:latin typeface="맑은 고딕"/>
              </a:rPr>
              <a:t>김선권  ·  삼구아이앤씨 DX전략팀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91F28"/>
                </a:solidFill>
                <a:latin typeface="맑은 고딕"/>
              </a:rPr>
              <a:t>현장은 넓고, 판독은 사람 눈에 묶여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4E5968"/>
                </a:solidFill>
                <a:latin typeface="맑은 고딕"/>
              </a:rPr>
              <a:t>삼구아이앤씨는 미화·보안·생산도급·물류·주차 운영처럼 사람이 직접 수행하는 현장 서비스를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4E5968"/>
                </a:solidFill>
                <a:latin typeface="맑은 고딕"/>
              </a:rPr>
              <a:t>여러 사업장에서 동시에 운영합니다. 한 사업장 안에서도 생산 라인, 자재 야드, 기계실,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4E5968"/>
                </a:solidFill>
                <a:latin typeface="맑은 고딕"/>
              </a:rPr>
              <a:t>주차 구획이 각각 다른 위험과 다른 품질 기준을 갖습니다.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9184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3520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91F28"/>
                </a:solidFill>
                <a:latin typeface="맑은 고딕"/>
              </a:rPr>
              <a:t>판독이 사람에 묶임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977639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안전 점검자는 보호구를, 설비 점검자는 배관을 봅니다.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같은 사진에 둘 다 있어도 목적 외는 지나칩니다.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29184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94760" y="3520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91F28"/>
                </a:solidFill>
                <a:latin typeface="맑은 고딕"/>
              </a:rPr>
              <a:t>기준의 속인화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977639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같은 부식·균열 사진도 경력에 따라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경미/보통/중대 판정이 갈립니다.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29184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37960" y="3520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91F28"/>
                </a:solidFill>
                <a:latin typeface="맑은 고딕"/>
              </a:rPr>
              <a:t>사후 수기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977639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찍고 → 정리하고 → 글로 옮기고 → 조항 찾기.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사진이 늘수록 뒷단이 병목입니다.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329184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81160" y="3520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91F28"/>
                </a:solidFill>
                <a:latin typeface="맑은 고딕"/>
              </a:rPr>
              <a:t>직무별 기준 상이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977639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안전은 놓치면 사고, 품질은 오탐이면 라인 정지.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한 기준을 전 직무에 못 씁니다.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09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1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91F28"/>
                </a:solidFill>
                <a:latin typeface="맑은 고딕"/>
              </a:rPr>
              <a:t>만능 모델 하나가 아니라, 직무별 에이전트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4E5968"/>
                </a:solidFill>
                <a:latin typeface="맑은 고딕"/>
              </a:rPr>
              <a:t>2차전지 셀의 극성 반전과 지게차 협착 위험은 찍는 대상도, 판정 기준도, 근거 법규도 다릅니다.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4E5968"/>
                </a:solidFill>
                <a:latin typeface="맑은 고딕"/>
              </a:rPr>
              <a:t>직무마다 전용 모델과 전용 규칙을 가진 에이전트를 두고, 오케스트레이터가 위험도 순으로 합칩니다.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0040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34290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1단계  지각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94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91F28"/>
                </a:solidFill>
                <a:latin typeface="맑은 고딕"/>
              </a:rPr>
              <a:t>직무별 객체탐지 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1"/>
                </a:solidFill>
                <a:latin typeface="맑은 고딕"/>
              </a:rPr>
              <a:t>분류가 아니라 탐지.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1"/>
                </a:solidFill>
                <a:latin typeface="맑은 고딕"/>
              </a:rPr>
              <a:t>'어디에 무엇이' 나와야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1"/>
                </a:solidFill>
                <a:latin typeface="맑은 고딕"/>
              </a:rPr>
              <a:t>위치 표시와 관계 판정이 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20040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09160" y="34290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2단계  판정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794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91F28"/>
                </a:solidFill>
                <a:latin typeface="맑은 고딕"/>
              </a:rPr>
              <a:t>결정론적 룰엔진 21개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429768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1"/>
                </a:solidFill>
                <a:latin typeface="맑은 고딕"/>
              </a:rPr>
              <a:t>법규 판정에 LLM 미사용.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1"/>
                </a:solidFill>
                <a:latin typeface="맑은 고딕"/>
              </a:rPr>
              <a:t>조항을 잘못 인용한 문서는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1"/>
                </a:solidFill>
                <a:latin typeface="맑은 고딕"/>
              </a:rPr>
              <a:t>문서로서 가치를 잃습니다.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0040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21040" y="34290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3단계  산출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94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91F28"/>
                </a:solidFill>
                <a:latin typeface="맑은 고딕"/>
              </a:rPr>
              <a:t>지적사항 · 준수율 · 이력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29768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1"/>
                </a:solidFill>
                <a:latin typeface="맑은 고딕"/>
              </a:rPr>
              <a:t>규정번호·위험도·근거 조항·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1"/>
                </a:solidFill>
                <a:latin typeface="맑은 고딕"/>
              </a:rPr>
              <a:t>조치사항·좌표를 함께 남깁니다.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09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1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91F28"/>
                </a:solidFill>
                <a:latin typeface="맑은 고딕"/>
              </a:rPr>
              <a:t>검증한 6개 직무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10515600" cy="5029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208483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E5968"/>
                </a:solidFill>
                <a:latin typeface="맑은 고딕"/>
              </a:rPr>
              <a:t>직무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0128" y="208483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E5968"/>
                </a:solidFill>
                <a:latin typeface="맑은 고딕"/>
              </a:rPr>
              <a:t>검출 대상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6368" y="2084832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E5968"/>
                </a:solidFill>
                <a:latin typeface="맑은 고딕"/>
              </a:rPr>
              <a:t>대표 판정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8775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안전관리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258775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작업자 · 보호구 착용/미착용 · 연기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2587752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S-01 안전모 미착용 / S-05 연기 감지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17520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09067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시설·설비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309067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부식 · 균열 · 케이블 피복 · 용접 · 벽체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3090672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D-02 균열 / D-03 케이블 피복 손상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520440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59359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생산 품질검사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359359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냉납 · 조립 불량 · 단락 · 표면 결함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3593592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P-02 조립 불량 / P-04 단락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23360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9651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2차전지 셀 선별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409651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셀 단위 극성 방향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4096512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X-01 역극 셀 검출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526280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59943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물류·운송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459943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지게차 · 작업자 · 섀시 적재 상태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4599432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L-01 지게차 협착 위험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029200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10235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주차 운영관리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510235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차종별 점유(승용·버스·트럭)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5102352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K-01 점유 현황 집계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532120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5A1"/>
                </a:solidFill>
                <a:latin typeface="맑은 고딕"/>
              </a:rPr>
              <a:t>판정 규칙 21개 — 각각 근거 조항 · 위험도 4단계 · 조치사항을 함께 갖습니다.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309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1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KEY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91F28"/>
                </a:solidFill>
                <a:latin typeface="맑은 고딕"/>
              </a:rPr>
              <a:t>오탐과 미탐의 비용은 항목마다 다릅니다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4E5968"/>
                </a:solidFill>
                <a:latin typeface="맑은 고딕"/>
              </a:rPr>
              <a:t>하나의 신뢰도 기준을 전 항목에 쓰지 않습니다. 항목마다 임계값을 다르게 두는 이유입니다.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10515600" cy="475488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724912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E5968"/>
                </a:solidFill>
                <a:latin typeface="맑은 고딕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93008" y="272491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E5968"/>
                </a:solidFill>
                <a:latin typeface="맑은 고딕"/>
              </a:rPr>
              <a:t>임계값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3168" y="2724912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E5968"/>
                </a:solidFill>
                <a:latin typeface="맑은 고딕"/>
              </a:rPr>
              <a:t>방향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2724912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E5968"/>
                </a:solidFill>
                <a:latin typeface="맑은 고딕"/>
              </a:rPr>
              <a:t>이유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20040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안전모 미착용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3200400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0.25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3200400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재현율 우선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3200400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놓치면 사고로 이어집니다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02736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675888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연기 · 화재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675888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0.55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3675888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정밀도 우선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3675888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오경보를 남발하면 현장이 경보를 무시합니다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78224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151376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역극 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4151376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0.25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415137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재현율 최우선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4151376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유출 시 클레임·안전사고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553712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626864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정렬 정상 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4626864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0.40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4626864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보수적 확정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4626864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확실할 때만 정상으로 확정합니다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029200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102352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상하차 진행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510235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0.45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5102352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정밀도 우선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5102352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상태 판정이라 오탐이 잦으면 기록이 흐려집니다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504688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역극 셀 0.25 / 정상 셀 0.40 — 같은 공정 안에서도 방향이 반대인 정책을 씁니다.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309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1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KEY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91F28"/>
                </a:solidFill>
                <a:latin typeface="맑은 고딕"/>
              </a:rPr>
              <a:t>각각 검출하는 것만으로는 나오지 않는 판정</a:t>
            </a:r>
          </a:p>
        </p:txBody>
      </p:sp>
      <p:pic>
        <p:nvPicPr>
          <p:cNvPr id="4" name="Picture 3" descr="1_관제화면_지게차협착위험경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19"/>
            <a:ext cx="6766560" cy="3331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920240"/>
            <a:ext cx="35661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E5968"/>
                </a:solidFill>
                <a:latin typeface="맑은 고딕"/>
              </a:rPr>
              <a:t>지게차 박스를 좌우 35% · 상하 17.5%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4E5968"/>
                </a:solidFill>
                <a:latin typeface="맑은 고딕"/>
              </a:rPr>
              <a:t>확장한 영역에 작업자 박스가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4E5968"/>
                </a:solidFill>
                <a:latin typeface="맑은 고딕"/>
              </a:rPr>
              <a:t>35% 이상 겹치면 협착 위험.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4E5968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4E5968"/>
                </a:solidFill>
                <a:latin typeface="맑은 고딕"/>
              </a:rPr>
              <a:t>지게차와 작업자를 각각 검출하는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4E5968"/>
                </a:solidFill>
                <a:latin typeface="맑은 고딕"/>
              </a:rPr>
              <a:t>것만으로는 나오지 않습니다.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4E5968"/>
                </a:solidFill>
                <a:latin typeface="맑은 고딕"/>
              </a:rPr>
              <a:t>두 객체의 '관계'가 판정 입력입니다.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4E5968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4E5968"/>
                </a:solidFill>
                <a:latin typeface="맑은 고딕"/>
              </a:rPr>
              <a:t>보호구도 같은 방식입니다.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4E5968"/>
                </a:solidFill>
                <a:latin typeface="맑은 고딕"/>
              </a:rPr>
              <a:t>작업자는 있는데 머리 구간에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4E5968"/>
                </a:solidFill>
                <a:latin typeface="맑은 고딕"/>
              </a:rPr>
              <a:t>안전모가 없으면 미착용으로 추론합니다.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521208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미착용 학습 데이터가 착용 대비 6.3:1로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부족해, 모델 대신 규칙으로 보완했습니다.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09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1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91F28"/>
                </a:solidFill>
                <a:latin typeface="맑은 고딕"/>
              </a:rPr>
              <a:t>심사위원이 직접 조작할 수 있습니다</a:t>
            </a:r>
          </a:p>
        </p:txBody>
      </p:sp>
      <p:pic>
        <p:nvPicPr>
          <p:cNvPr id="4" name="Picture 3" descr="3_판독결과_직무별신뢰도와임계값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5120640" cy="25211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663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5A1"/>
                </a:solidFill>
                <a:latin typeface="맑은 고딕"/>
              </a:rPr>
              <a:t>판독 결과 — 신뢰도와 임계값을 함께 표시</a:t>
            </a:r>
          </a:p>
        </p:txBody>
      </p:sp>
      <p:pic>
        <p:nvPicPr>
          <p:cNvPr id="6" name="Picture 5" descr="4_판정작동_클래스별임계값과채택여부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11680"/>
            <a:ext cx="5120640" cy="25211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663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5A1"/>
                </a:solidFill>
                <a:latin typeface="맑은 고딕"/>
              </a:rPr>
              <a:t>판정 작동 — 채택/미채택이 그대로 드러남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182F6"/>
                </a:solidFill>
                <a:latin typeface="맑은 고딕"/>
              </a:rPr>
              <a:t>https://himec-eye-panel.vercel.app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3182F6"/>
                </a:solidFill>
                <a:latin typeface="맑은 고딕"/>
              </a:rPr>
              <a:t>관제 화면 · 현장 재현 영상 · 판독 결과 · 판정 작동 · 분석 리포트 (화면 5종)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09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1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91F28"/>
                </a:solidFill>
                <a:latin typeface="맑은 고딕"/>
              </a:rPr>
              <a:t>아이디어가 아니라 실제로 도는 프로토타입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20848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E5968"/>
                </a:solidFill>
                <a:latin typeface="맑은 고딕"/>
              </a:rPr>
              <a:t>직무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0208" y="20848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E5968"/>
                </a:solidFill>
                <a:latin typeface="맑은 고딕"/>
              </a:rPr>
              <a:t>mAP@50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79008" y="20848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E5968"/>
                </a:solidFill>
                <a:latin typeface="맑은 고딕"/>
              </a:rP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20848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E5968"/>
                </a:solidFill>
                <a:latin typeface="맑은 고딕"/>
              </a:rP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8048" y="20848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E5968"/>
                </a:solidFill>
                <a:latin typeface="맑은 고딕"/>
              </a:rPr>
              <a:t>학습 epoch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420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안전관리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25420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31.6%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9008" y="25420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37.5%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5420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33.9%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8048" y="25420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926080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9992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시설·설비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29992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45.8%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29992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65.6%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29992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42.7%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29992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383280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4564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생산 품질검사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0208" y="34564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32.6%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9008" y="34564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45.5%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34564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39.2%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34564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840480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9136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2차전지 셀 선별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39136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99.5%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8" y="39136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100.0%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39136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100.0%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9136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297680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43708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물류·운송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0208" y="43708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66.8%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9008" y="43708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88.0%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43708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64.1%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8048" y="43708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4754880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48280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주차 운영관리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50208" y="48280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71.5%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9008" y="48280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70.6%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99248" y="48280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69.9%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8048" y="48280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5212080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1"/>
                </a:solidFill>
                <a:latin typeface="맑은 고딕"/>
              </a:rPr>
              <a:t>· GPU 없이 CPU에서 제한된 epoch만 학습한 수치입니다. 수렴까지 학습하면 향상됩니다.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1"/>
                </a:solidFill>
                <a:latin typeface="맑은 고딕"/>
              </a:rPr>
              <a:t>· 2차전지 99.5%는 합성 데이터로 방법론을 검증한 값 — 도입 시 실제 셀 이미지로 재학습이 필요합니다.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1"/>
                </a:solidFill>
                <a:latin typeface="맑은 고딕"/>
              </a:rPr>
              <a:t>· 안전·생산이 낮은 것은 알고리즘이 아니라 데이터 문제입니다.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309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1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91F28"/>
                </a:solidFill>
                <a:latin typeface="맑은 고딕"/>
              </a:rPr>
              <a:t>돌려보고 나서야 보인 것들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217627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E5968"/>
                </a:solidFill>
                <a:latin typeface="맑은 고딕"/>
              </a:rPr>
              <a:t>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5888" y="2176272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E5968"/>
                </a:solidFill>
                <a:latin typeface="맑은 고딕"/>
              </a:rPr>
              <a:t>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08" y="217627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E5968"/>
                </a:solidFill>
                <a:latin typeface="맑은 고딕"/>
              </a:rPr>
              <a:t>해결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19488" y="217627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E5968"/>
                </a:solidFill>
                <a:latin typeface="맑은 고딕"/>
              </a:rPr>
              <a:t>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249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연기 과탐지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8" y="2724912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단일 임계값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72491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항목별 임계값 정책(연기 0.55)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19488" y="272491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7건 → 2건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200400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27355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하자 사진의 연기 오탐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3273552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학습 분포 밖 이미지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327355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검측유형 라우팅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327355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3건 → 0건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749040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2219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미착용 탐지 저조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3822192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착용:미착용 = 6.3:1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382219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관계 추론 도입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382219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</a:rPr>
              <a:t>1건 → 5건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297680"/>
            <a:ext cx="10515600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04452"/>
                </a:solidFill>
                <a:latin typeface="맑은 고딕"/>
              </a:rPr>
              <a:t>두 번째 문제는 신뢰도로 거를 수 없었습니다 — 오탐 0.69 &gt; 정탐 0.50.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309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1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91F28"/>
                </a:solidFill>
                <a:latin typeface="맑은 고딕"/>
              </a:rPr>
              <a:t>기대효과와 도입 로드맵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49377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20299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91F28"/>
                </a:solidFill>
                <a:latin typeface="맑은 고딕"/>
              </a:rPr>
              <a:t>판독 누락 감소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4086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직무 경계를 넘어 한 장에서 동시 판독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49377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9443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91F28"/>
                </a:solidFill>
                <a:latin typeface="맑은 고딕"/>
              </a:rPr>
              <a:t>기준의 표준화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5526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판정이 코드로 고정 — 경력에 따라 달라지지 않음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49040"/>
            <a:ext cx="49377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38587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91F28"/>
                </a:solidFill>
                <a:latin typeface="맑은 고딕"/>
              </a:rPr>
              <a:t>문서 작성 부하 감소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6966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'쓰는 일'이 아니라 '확인하는 일'만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663440"/>
            <a:ext cx="49377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47731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91F28"/>
                </a:solidFill>
                <a:latin typeface="맑은 고딕"/>
              </a:rPr>
              <a:t>확산 용이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08406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새 직무는 해당 모델과 규칙만 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202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182F6"/>
                </a:solidFill>
                <a:latin typeface="맑은 고딕"/>
              </a:rPr>
              <a:t>1단계  검증 (1~3개월)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67712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E5968"/>
                </a:solidFill>
                <a:latin typeface="맑은 고딕"/>
              </a:rPr>
              <a:t>사내 현장 사진으로 재학습 · 오탐/미탐 실측 · 임계값 재조정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108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182F6"/>
                </a:solidFill>
                <a:latin typeface="맑은 고딕"/>
              </a:rPr>
              <a:t>2단계  현장 적용 (3~6개월)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456432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E5968"/>
                </a:solidFill>
                <a:latin typeface="맑은 고딕"/>
              </a:rPr>
              <a:t>모바일 촬영 즉시 판독 · 점검 문서 연동 · 피드백 루프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976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182F6"/>
                </a:solidFill>
                <a:latin typeface="맑은 고딕"/>
              </a:rPr>
              <a:t>3단계  확산 (6~12개월)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645152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E5968"/>
                </a:solidFill>
                <a:latin typeface="맑은 고딕"/>
              </a:rPr>
              <a:t>관리 시스템 연동 · 지적사항 DB · 협력사 품질 대시보드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4864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점진적 도입 — 초기에는 참고자료로만 제공하고,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확인율·오탐률이 쌓인 뒤 자동화 범위를 넓힙니다.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최종 판정 권한은 항상 책임자에게 있습니다.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09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1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</a:rPr>
              <a:t>직접 확인해 보세요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603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5CA3DD"/>
                </a:solidFill>
                <a:latin typeface="맑은 고딕"/>
              </a:rPr>
              <a:t>온라인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https://himec-eye-panel.vercel.app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944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1"/>
                </a:solidFill>
                <a:latin typeface="맑은 고딕"/>
              </a:rPr>
              <a:t>관제 화면 · 현장 재현 영상 · 판독 결과 · 판정 작동 · 분석 리포트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5CA3DD"/>
                </a:solidFill>
                <a:latin typeface="맑은 고딕"/>
              </a:rPr>
              <a:t>시연 영상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6118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https://youtu.be/KwVEdUqCQhc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9959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1"/>
                </a:solidFill>
                <a:latin typeface="맑은 고딕"/>
              </a:rPr>
              <a:t>관제 화면 36초 — 4개 현장, 판독부터 경보 확정까지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634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5CA3DD"/>
                </a:solidFill>
                <a:latin typeface="맑은 고딕"/>
              </a:rPr>
              <a:t>소스코드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6634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https://github.com/ll3i/himec-eye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504748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1"/>
                </a:solidFill>
                <a:latin typeface="맑은 고딕"/>
              </a:rPr>
              <a:t>데이터 수집 · 학습 · 판독 엔진 · 룰엔진 · 시연 페이지 빌더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1"/>
                </a:solidFill>
                <a:latin typeface="맑은 고딕"/>
              </a:rPr>
              <a:t>김선권  ·  삼구아이앤씨 DX전략팀  ·  asdf4596@hanyang.ac.kr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